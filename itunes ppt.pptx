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E953E1"/>
    <a:srgbClr val="F94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2C2CE-EE56-C154-9A52-350D9BA33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6B58F-1CD9-FEE4-CA31-4C65514B0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FBC96-7D60-9A78-B2C6-8D24508D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19806-4316-4419-3BE2-6784A8AAA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5835-CAD7-F4A5-781B-BE075D44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76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DBFC-797F-1EA3-84F0-1BC8D34A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4DCC8-1F2D-A559-0448-5216412C8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F033A-ABFB-1940-BEC2-E67A0CEC0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515D1-4A7F-CAA9-5B14-C5237733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96177-5947-D9D2-42E1-EC98BE0E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29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80903-91F9-32A8-F43F-23F69006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F358-45C2-3498-2343-B800CF9A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5BDF6-C9ED-EAB7-0DA0-907EEC0A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2745E-45F5-CCE1-77D3-A04D7277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96DD6-F7AE-4ABF-A907-0CA1C608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39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BBCDF-CE87-B935-1064-9C12C4C2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F16B-B025-3B79-4B4B-B878D6E92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33FB1-83E0-5279-C864-19EDCA5B8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4E2BA-D176-946C-511F-A217BCC7A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7D040-8B40-3F9C-6E53-875F80A1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B017D-C8D1-3F23-0DCE-6B45B015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061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98252-5395-EF7D-D71D-9629D4786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79F0A-A261-6D4B-55C9-2DA5425A2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D92F2-3A7E-8F7B-A2D1-083ED19EA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8653D-E99F-E180-C425-836B0E10C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06D79-66FC-ACB3-8BC6-4BB035795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572AA-9982-A996-D0DF-6A7F12A5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8E53FD-40FE-9EAB-E2ED-B75DBB996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BF36B-A337-1E9A-711B-678F46CA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430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91EE1-DA5B-8EFE-81BB-30AEA580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69DAA-3F51-281B-8E7E-A03E2631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29749D-5043-8055-8141-0394EF26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E82C0-FE2B-AF8B-2AE9-295E9FA9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35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509DE-E5DD-5525-7063-3EAB53F2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82918-CC10-6B7E-3874-25FF0282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4AB15-9A3F-096C-0E77-02534D12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56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A748-017B-32AB-EA9D-06E11C4C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3DD47-F485-7F86-6ECC-E1562E1EA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4EECB-269E-B8BC-EA73-D1D5A5A14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B87DF-00DB-0DDF-239A-21FB4D80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932E5-F584-F44B-0133-C6F565D9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5E7FA-FF19-AC90-9705-817BF81A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37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690A-3EDA-F476-57A0-9697DD696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596F9-7F2E-6656-9D51-E87E0F176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4C20D-16A3-3C15-67C7-EE14E9DE6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6B571-8236-4FC5-4554-CE1E7BFF9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D4A47-0EEC-8102-4BDF-78D42C96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D8380-3823-26F5-F829-576565F6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224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89C60-DE18-E877-E3B1-05BF00C92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B7E04-E6A7-ADC4-4548-5D61373B0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47AB0-FFC2-1F90-E191-0C15B665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8B5A2-7B1B-1DDC-7F98-9F8C65F16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34368-B62D-DAA7-81CB-232B57437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00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2ED0E-5832-75AA-7D34-9E3E0A961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26D9F-CF6F-103C-D6FA-73EDE1082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AE49-B175-9691-9270-0251D963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5ACEF-5117-21BA-1DC3-3736D904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5B224-800F-400D-DAFD-E1F230F75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14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99D3B-D31F-7AAA-2029-0056F8F1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FB7A7-1A84-A8E6-71A8-6A5FF3EE9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4F6E6-E028-E1B8-87BA-73526A782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9134A-465A-49D8-B29F-76DE8FE3891F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76FF4-E30B-BFA9-5650-4595DC3D0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2A1F4-E4AA-2FB5-71EC-58059504B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0621E-B961-4D1E-9D9D-AF76052B4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9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6D92-9062-3FB8-504F-95CB2A8D48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238E5-5FEF-9E93-2E74-F456880413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832530-FA73-3CB2-1A03-1BC8C878C971}"/>
              </a:ext>
            </a:extLst>
          </p:cNvPr>
          <p:cNvSpPr/>
          <p:nvPr/>
        </p:nvSpPr>
        <p:spPr>
          <a:xfrm>
            <a:off x="0" y="0"/>
            <a:ext cx="12192001" cy="6858001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 w="76200" cmpd="sng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A3097-7C15-403C-777D-13C8F71A667D}"/>
              </a:ext>
            </a:extLst>
          </p:cNvPr>
          <p:cNvSpPr txBox="1"/>
          <p:nvPr/>
        </p:nvSpPr>
        <p:spPr>
          <a:xfrm>
            <a:off x="2996380" y="1600200"/>
            <a:ext cx="6786717" cy="1756600"/>
          </a:xfrm>
          <a:prstGeom prst="rect">
            <a:avLst/>
          </a:prstGeom>
          <a:noFill/>
          <a:ln>
            <a:noFill/>
            <a:prstDash val="sysDash"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rgbClr val="FFFF99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iTunes SQL Analytics Project</a:t>
            </a:r>
          </a:p>
        </p:txBody>
      </p:sp>
      <p:pic>
        <p:nvPicPr>
          <p:cNvPr id="9" name="Graphic 8" descr="Music notation with solid fill">
            <a:extLst>
              <a:ext uri="{FF2B5EF4-FFF2-40B4-BE49-F238E27FC236}">
                <a16:creationId xmlns:a16="http://schemas.microsoft.com/office/drawing/2014/main" id="{61962657-E947-CF7F-0444-695865716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670340">
            <a:off x="196666" y="-102223"/>
            <a:ext cx="2172067" cy="2172067"/>
          </a:xfrm>
          <a:prstGeom prst="rect">
            <a:avLst/>
          </a:prstGeom>
        </p:spPr>
      </p:pic>
      <p:pic>
        <p:nvPicPr>
          <p:cNvPr id="11" name="Graphic 10" descr="Music with solid fill">
            <a:extLst>
              <a:ext uri="{FF2B5EF4-FFF2-40B4-BE49-F238E27FC236}">
                <a16:creationId xmlns:a16="http://schemas.microsoft.com/office/drawing/2014/main" id="{5E949130-C78D-CF9C-21BB-7C790C978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188581">
            <a:off x="1282700" y="1596867"/>
            <a:ext cx="976503" cy="976503"/>
          </a:xfrm>
          <a:prstGeom prst="rect">
            <a:avLst/>
          </a:prstGeom>
        </p:spPr>
      </p:pic>
      <p:pic>
        <p:nvPicPr>
          <p:cNvPr id="13" name="Graphic 12" descr="Music note with solid fill">
            <a:extLst>
              <a:ext uri="{FF2B5EF4-FFF2-40B4-BE49-F238E27FC236}">
                <a16:creationId xmlns:a16="http://schemas.microsoft.com/office/drawing/2014/main" id="{10D26AC5-0FFD-617D-D8B1-AD23EB1815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315692">
            <a:off x="469634" y="2845879"/>
            <a:ext cx="1021843" cy="1021843"/>
          </a:xfrm>
          <a:prstGeom prst="rect">
            <a:avLst/>
          </a:prstGeom>
        </p:spPr>
      </p:pic>
      <p:pic>
        <p:nvPicPr>
          <p:cNvPr id="15" name="Graphic 14" descr="Music notes with solid fill">
            <a:extLst>
              <a:ext uri="{FF2B5EF4-FFF2-40B4-BE49-F238E27FC236}">
                <a16:creationId xmlns:a16="http://schemas.microsoft.com/office/drawing/2014/main" id="{0F353ED7-BA16-954A-1A65-99ADAACE20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08397">
            <a:off x="9543429" y="4379213"/>
            <a:ext cx="2486949" cy="2154696"/>
          </a:xfrm>
          <a:prstGeom prst="rect">
            <a:avLst/>
          </a:prstGeom>
        </p:spPr>
      </p:pic>
      <p:pic>
        <p:nvPicPr>
          <p:cNvPr id="17" name="Graphic 16" descr="Treble clef with solid fill">
            <a:extLst>
              <a:ext uri="{FF2B5EF4-FFF2-40B4-BE49-F238E27FC236}">
                <a16:creationId xmlns:a16="http://schemas.microsoft.com/office/drawing/2014/main" id="{48BAADB7-7B94-8850-A7C0-AF2830F03D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9122856">
            <a:off x="10633817" y="3437939"/>
            <a:ext cx="972948" cy="972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3234A-5408-4409-077C-252E9BDAF2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318" y="3722085"/>
            <a:ext cx="2943575" cy="1655761"/>
          </a:xfrm>
          <a:prstGeom prst="rect">
            <a:avLst/>
          </a:prstGeom>
        </p:spPr>
      </p:pic>
      <p:pic>
        <p:nvPicPr>
          <p:cNvPr id="25" name="Graphic 24" descr="Treble clef with solid fill">
            <a:extLst>
              <a:ext uri="{FF2B5EF4-FFF2-40B4-BE49-F238E27FC236}">
                <a16:creationId xmlns:a16="http://schemas.microsoft.com/office/drawing/2014/main" id="{6F138407-8B27-B1FE-2ED5-8B3B55E620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444849">
            <a:off x="1325592" y="4004048"/>
            <a:ext cx="972948" cy="972948"/>
          </a:xfrm>
          <a:prstGeom prst="rect">
            <a:avLst/>
          </a:prstGeom>
        </p:spPr>
      </p:pic>
      <p:pic>
        <p:nvPicPr>
          <p:cNvPr id="26" name="Graphic 25" descr="Music notes with solid fill">
            <a:extLst>
              <a:ext uri="{FF2B5EF4-FFF2-40B4-BE49-F238E27FC236}">
                <a16:creationId xmlns:a16="http://schemas.microsoft.com/office/drawing/2014/main" id="{00A018B3-6A90-1184-EBAE-CA9D16004A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039038">
            <a:off x="633751" y="5059501"/>
            <a:ext cx="943527" cy="817473"/>
          </a:xfrm>
          <a:prstGeom prst="rect">
            <a:avLst/>
          </a:prstGeom>
        </p:spPr>
      </p:pic>
      <p:pic>
        <p:nvPicPr>
          <p:cNvPr id="27" name="Graphic 26" descr="Music with solid fill">
            <a:extLst>
              <a:ext uri="{FF2B5EF4-FFF2-40B4-BE49-F238E27FC236}">
                <a16:creationId xmlns:a16="http://schemas.microsoft.com/office/drawing/2014/main" id="{58945CB9-ADAA-A173-730B-30E2542479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188581">
            <a:off x="1678101" y="5717246"/>
            <a:ext cx="681307" cy="6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6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C87FB-D145-9711-FFFC-A0DF86748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064F60-7292-5FCD-63F3-32392E54DB33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76DE4-401D-D9A2-2BEA-0F84840E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62419" cy="28380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Power BI Dashboard</a:t>
            </a:r>
            <a:endParaRPr lang="en-IN" sz="2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394B70-9523-0A03-30A5-A00D79CBF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1" y="747253"/>
            <a:ext cx="11808542" cy="595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B39243-F53B-1790-2ED0-09DBFC0A14BF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 w="762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88725-CF92-5FD1-9A52-306AC0B5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68897" cy="726256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2700" b="1" dirty="0"/>
              <a:t>1)Who is the senior most employee based on job title?</a:t>
            </a:r>
            <a:endParaRPr lang="en-IN" sz="27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7384E-8F72-E6F2-8D8F-B9246C63C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26" y="1410020"/>
            <a:ext cx="4633278" cy="4273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9E2AE3-A0B7-0EFD-BBCC-B18D2F5FA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501" y="1410020"/>
            <a:ext cx="3516596" cy="64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81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62FD9-1F05-56C4-D37D-5E2F44342A10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3A525-11FB-8CB7-C290-179067AC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2) Which countries have the most Invoices?</a:t>
            </a:r>
            <a:endParaRPr lang="en-IN" sz="27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5A1AEA-8652-22D7-98AA-CD75C7870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094" y="1708590"/>
            <a:ext cx="3931834" cy="3109216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E4A8A9-AA7B-043B-4AE5-77458EC56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528" y="1708590"/>
            <a:ext cx="3400378" cy="195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33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46E6-E125-F50B-3D37-D3AFC5F4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9AFC77-B162-C246-F37B-56554E9458A7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58735-9C94-8528-B3CD-C325D4EA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3) What are top 3 values of total invoice?</a:t>
            </a:r>
            <a:endParaRPr lang="en-IN" sz="27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88F791-6E0B-A6F8-010B-28CE1B5AE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3536"/>
            <a:ext cx="4028768" cy="344488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EEC0E6-3FB3-F096-07FF-6910E3C3D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611" y="1763536"/>
            <a:ext cx="3294721" cy="166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78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5965-10AF-3301-5520-C5F78385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D8F30B-D46D-7863-59CC-5F095D8D2DC9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580B16-0C92-4671-06AB-EB1C5051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4) Which city has the best customers? </a:t>
            </a:r>
            <a:endParaRPr lang="en-IN" sz="2700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9CA0BB5-B520-92EC-B448-C06D92CF5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190" y="1690687"/>
            <a:ext cx="5288156" cy="3530241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C35026-81D0-38B3-6889-569FE4832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286" y="1690687"/>
            <a:ext cx="3721613" cy="89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8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A677-F51E-B4C4-4681-5E2424FD6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86D28E-13B0-2A42-5ADA-3AFCA956D566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E6F3F-A2D6-7083-C07B-2FC394CC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5)Who is the best customer? </a:t>
            </a:r>
            <a:endParaRPr lang="en-IN" sz="27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376CA2-273D-409E-690B-5A4934594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828" y="1602198"/>
            <a:ext cx="5047113" cy="420866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ECB077-82A0-4C2D-0B7B-5BF6896AD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160" y="1602198"/>
            <a:ext cx="4273268" cy="67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0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48A4B-9E10-0811-D47A-1708BF588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BA3DA6-9A16-249B-1337-0D507F2F7C83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EB15A6-B445-C47C-DB00-F3F3AABC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6) Write a query to return the email, first name, last name, &amp; Genre of all Rock Music listeners. Return your list ordered alphabetically by email starting with A </a:t>
            </a:r>
            <a:endParaRPr lang="en-IN" sz="27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B95ABB-D00C-4CC8-85C2-B2937FDD1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4452"/>
            <a:ext cx="4943168" cy="46732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2BF402-E0A4-3702-98C2-791A79838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569" y="1854452"/>
            <a:ext cx="5388895" cy="17539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A1450C-261C-BE8E-4A74-B5063FA1B928}"/>
              </a:ext>
            </a:extLst>
          </p:cNvPr>
          <p:cNvSpPr txBox="1"/>
          <p:nvPr/>
        </p:nvSpPr>
        <p:spPr>
          <a:xfrm>
            <a:off x="6619569" y="3720345"/>
            <a:ext cx="4444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 Continued….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172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2FF4-8AA5-423E-C8EE-4FF21510F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62E8BF-8CD0-7802-F80D-20ED9EE94671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E54E6-8E92-6FAA-7353-4BBD85A1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7)Top 10 Rock Artists by Track Count</a:t>
            </a:r>
            <a:endParaRPr lang="en-IN" sz="27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96E0BC-613E-32A5-CDDB-7B9308225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6864"/>
            <a:ext cx="4687529" cy="459807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D4DFB8-CEFD-E913-29D9-2374593F7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286" y="1566864"/>
            <a:ext cx="4469128" cy="1862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21F3AA-45C6-B000-57CC-2DBE8E8ABA8B}"/>
              </a:ext>
            </a:extLst>
          </p:cNvPr>
          <p:cNvSpPr txBox="1"/>
          <p:nvPr/>
        </p:nvSpPr>
        <p:spPr>
          <a:xfrm>
            <a:off x="7226710" y="3657600"/>
            <a:ext cx="3559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 Continued…..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2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A6CC-0DA2-3317-7E38-F1B93A6B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809C20-5FE9-F4AA-3421-B22CE3C3A443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5B008-B6D8-B4A0-038A-3D5E80CEF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8) Tracks longer than the average song</a:t>
            </a:r>
            <a:endParaRPr lang="en-IN" sz="27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6648E1-427E-9F22-AD68-19B598CE3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94526"/>
            <a:ext cx="5451129" cy="273646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A36FE9-E72D-A427-2537-074E3CC61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140" y="1894526"/>
            <a:ext cx="4249438" cy="16352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82E4BD-38C7-F8D7-9FA1-A507FE0CE711}"/>
              </a:ext>
            </a:extLst>
          </p:cNvPr>
          <p:cNvSpPr txBox="1"/>
          <p:nvPr/>
        </p:nvSpPr>
        <p:spPr>
          <a:xfrm>
            <a:off x="7538140" y="3733620"/>
            <a:ext cx="412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 Continued….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407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A241-B5F4-BD18-5349-6964E69D5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106D26-B3A8-FC0F-CCD3-56BE0093D830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0DE6F-1071-C833-68F1-302600D2C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9) Total amount spent by each customer on each artist</a:t>
            </a:r>
            <a:endParaRPr lang="en-IN" sz="27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7F3344-A62B-DBEA-B1A1-1A8C2FFCF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863" y="1597587"/>
            <a:ext cx="4206605" cy="199118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FAF55A-9D94-753C-38B1-509AF362F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62" y="3588774"/>
            <a:ext cx="4206605" cy="2141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EE8F6D-984D-6A61-D656-93CD22BA2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60" y="1597587"/>
            <a:ext cx="4648603" cy="15487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20B5C9-395D-E802-54C5-20ED3C8B69E6}"/>
              </a:ext>
            </a:extLst>
          </p:cNvPr>
          <p:cNvSpPr txBox="1"/>
          <p:nvPr/>
        </p:nvSpPr>
        <p:spPr>
          <a:xfrm>
            <a:off x="6801860" y="3429000"/>
            <a:ext cx="4279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 Continued…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15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49915-DCC5-378A-4437-99321CB1A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572E2C-A2BE-952D-C4AF-A75EAC46C948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C225-9A08-E9B3-AFB1-F4FFBAC4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10)  Most popular music genre per country</a:t>
            </a:r>
            <a:endParaRPr lang="en-IN" sz="27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458A1B-08BD-05CD-8F9C-D4DA0962D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5292" y="1254048"/>
            <a:ext cx="5160707" cy="257605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4A3106-E1C6-6C3C-26BF-95FC66E5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92" y="3830100"/>
            <a:ext cx="5160706" cy="2967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5F5FD0-6591-6D83-3DA4-185789FBF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486" y="1304933"/>
            <a:ext cx="3243152" cy="15857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487897-0352-8030-CCF1-B1CF389651C9}"/>
              </a:ext>
            </a:extLst>
          </p:cNvPr>
          <p:cNvSpPr txBox="1"/>
          <p:nvPr/>
        </p:nvSpPr>
        <p:spPr>
          <a:xfrm>
            <a:off x="7718323" y="3205316"/>
            <a:ext cx="312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 Continued…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359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5D0C-0565-D8F0-DE22-8E3E5089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B69D2E-5734-8D3C-3CFE-AE32B966AB7E}"/>
              </a:ext>
            </a:extLst>
          </p:cNvPr>
          <p:cNvSpPr/>
          <p:nvPr/>
        </p:nvSpPr>
        <p:spPr>
          <a:xfrm>
            <a:off x="0" y="-42003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A3FDA-26C1-ECB5-00BD-EBF171D5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11)  Top customer by spending in each country</a:t>
            </a:r>
            <a:endParaRPr lang="en-IN" sz="27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82843A-A50B-AF17-D47A-CC2E4B4AA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078" y="1447628"/>
            <a:ext cx="4778154" cy="198137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E72205-4F87-20A3-0AEF-4771EFE52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8" y="3407997"/>
            <a:ext cx="4778154" cy="1699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14A6D1-2BEA-7B9D-C03C-F2C0F72EF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312" y="1447627"/>
            <a:ext cx="4055178" cy="13255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CAE005-9C3E-640D-3D5F-6AE4763641AB}"/>
              </a:ext>
            </a:extLst>
          </p:cNvPr>
          <p:cNvSpPr txBox="1"/>
          <p:nvPr/>
        </p:nvSpPr>
        <p:spPr>
          <a:xfrm>
            <a:off x="7295535" y="3097161"/>
            <a:ext cx="3746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 Continued…..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40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167CB-B56B-CDCF-4AC5-3E5AC8D6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A22EBC-C2F4-5607-F42F-731DE94A10D4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8F76F-DBD4-A458-7669-8E36D09C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700" b="1" dirty="0"/>
              <a:t>12) Most popular artists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6EB4F9-DA5A-A59E-9289-0DC26D505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0651"/>
            <a:ext cx="4580849" cy="38966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5AC602-671E-0B87-158F-AB669C3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563" y="1480650"/>
            <a:ext cx="3451224" cy="1714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B2181F-35C1-7FFA-4F40-A9992E5A2202}"/>
              </a:ext>
            </a:extLst>
          </p:cNvPr>
          <p:cNvSpPr txBox="1"/>
          <p:nvPr/>
        </p:nvSpPr>
        <p:spPr>
          <a:xfrm>
            <a:off x="7639563" y="3429000"/>
            <a:ext cx="3372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 Continued….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819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5D12-8460-1843-84E9-BA6050A18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664AEC-5ED5-3F6E-5DA2-75A21DF0D137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55FD-B7E6-5C26-98BE-D4D2CC8A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700" b="1" dirty="0"/>
              <a:t>13)Most popular song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7AB3BE-547C-8E21-3DD1-2DC6BCA24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14427"/>
            <a:ext cx="5286299" cy="40784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2B002F-F3C0-0F53-9566-FC070E864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031" y="1614427"/>
            <a:ext cx="4214946" cy="7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52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32142-9C24-A507-892A-33D280878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0CC9BF-A0A6-CB62-D933-A78FB082A97D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F01C5-AFBB-9122-2F4E-C5C65C85B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14)Average prices of different types of music</a:t>
            </a:r>
            <a:endParaRPr lang="en-IN" sz="27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5B207-C097-DB50-A558-AFACA6D90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0889"/>
            <a:ext cx="6050802" cy="343574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85F2D8-41CB-5804-4F7C-534E8ACCD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196" y="1450889"/>
            <a:ext cx="4121373" cy="99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8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86BC0-BFE4-695C-7E7E-7D87467BA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F3B340-CF9E-CC2C-182A-D561648CF4C8}"/>
              </a:ext>
            </a:extLst>
          </p:cNvPr>
          <p:cNvSpPr/>
          <p:nvPr/>
        </p:nvSpPr>
        <p:spPr>
          <a:xfrm>
            <a:off x="-1" y="-42004"/>
            <a:ext cx="12192000" cy="6900003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85000">
                <a:srgbClr val="F94DE0"/>
              </a:gs>
            </a:gsLst>
            <a:lin ang="2700000" scaled="1"/>
            <a:tileRect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86C0B-E090-8CC4-5F20-933AD223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/>
              <a:t>15) Most popular countries for music purchases</a:t>
            </a:r>
            <a:endParaRPr lang="en-IN" sz="27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0DC827-CFE9-CEAC-D69F-7207FFBDE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483942" cy="38837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9F23AB-F669-25C0-4F03-84FCE47F0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076" y="1690688"/>
            <a:ext cx="3090358" cy="18685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51FCA5-7693-1F87-E20F-805EA254A462}"/>
              </a:ext>
            </a:extLst>
          </p:cNvPr>
          <p:cNvSpPr txBox="1"/>
          <p:nvPr/>
        </p:nvSpPr>
        <p:spPr>
          <a:xfrm>
            <a:off x="8387076" y="3775587"/>
            <a:ext cx="309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 Continued….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75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196</Words>
  <Application>Microsoft Office PowerPoint</Application>
  <PresentationFormat>Widescreen</PresentationFormat>
  <Paragraphs>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Yu Gothic UI Semibold</vt:lpstr>
      <vt:lpstr>Arial</vt:lpstr>
      <vt:lpstr>Calibri</vt:lpstr>
      <vt:lpstr>Calibri Light</vt:lpstr>
      <vt:lpstr>Office Theme</vt:lpstr>
      <vt:lpstr>PowerPoint Presentation</vt:lpstr>
      <vt:lpstr>Power BI Dashboard</vt:lpstr>
      <vt:lpstr> 1)Who is the senior most employee based on job title?</vt:lpstr>
      <vt:lpstr>2) Which countries have the most Invoices?</vt:lpstr>
      <vt:lpstr>3) What are top 3 values of total invoice?</vt:lpstr>
      <vt:lpstr>4) Which city has the best customers? </vt:lpstr>
      <vt:lpstr>5)Who is the best customer? </vt:lpstr>
      <vt:lpstr>6) Write a query to return the email, first name, last name, &amp; Genre of all Rock Music listeners. Return your list ordered alphabetically by email starting with A </vt:lpstr>
      <vt:lpstr>7)Top 10 Rock Artists by Track Count</vt:lpstr>
      <vt:lpstr>8) Tracks longer than the average song</vt:lpstr>
      <vt:lpstr>9) Total amount spent by each customer on each artist</vt:lpstr>
      <vt:lpstr>10)  Most popular music genre per country</vt:lpstr>
      <vt:lpstr>11)  Top customer by spending in each country</vt:lpstr>
      <vt:lpstr>12) Most popular artists</vt:lpstr>
      <vt:lpstr>13)Most popular song</vt:lpstr>
      <vt:lpstr>14)Average prices of different types of music</vt:lpstr>
      <vt:lpstr>15) Most popular countries for music purchases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vedantj122@gmail.com</dc:creator>
  <cp:lastModifiedBy>vedantj122@gmail.com</cp:lastModifiedBy>
  <cp:revision>4</cp:revision>
  <dcterms:created xsi:type="dcterms:W3CDTF">2025-07-10T17:59:24Z</dcterms:created>
  <dcterms:modified xsi:type="dcterms:W3CDTF">2025-07-14T16:48:13Z</dcterms:modified>
</cp:coreProperties>
</file>